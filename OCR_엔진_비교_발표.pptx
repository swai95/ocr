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dw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4147937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2788920"/>
            <a:ext cx="640080" cy="82296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오프라인 한국어 문서 OCR</a:t>
            </a:r>
          </a:p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070B0"/>
                </a:solidFill>
                <a:latin typeface="맑은 고딕"/>
                <a:ea typeface="맑은 고딕"/>
                <a:cs typeface="맑은 고딕"/>
              </a:rPr>
              <a:t>엔진·모델 비교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8920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테스트셋: 계약서 보관 신청서 3종 (케이아이에스 · 유테크솔루션 · 리스너)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측정 환경: RTX 5090 GPU  ·  지표: CER / WER  ·  완전 오프라인(내부망)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846320"/>
            <a:ext cx="2277762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DONGWOO FINE-CHEM ·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두 갈래의 OCR: 딥러닝 방식 vs VLM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02920" cy="64008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OCR = 이미지 속 글자를 컴퓨터가 읽어 텍스트로 바꾸는 기술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65760"/>
            <a:ext cx="732138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2148840"/>
            <a:ext cx="5394960" cy="228600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73152" cy="2286000"/>
          </a:xfrm>
          <a:prstGeom prst="rect">
            <a:avLst/>
          </a:prstGeom>
          <a:solidFill>
            <a:srgbClr val="007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76856"/>
            <a:ext cx="5074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딥러닝 방식 OCR (예: PaddleOCR)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글자 위치를 찾고(검출) → 한 줄씩 읽는(인식) 전용 신경망.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매우 빠름 — 페이지당 0.3초 수준, 완전 오프라인.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표·폼 구조에 강함. 같은 입력엔 항상 같은 결과(결정론적).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약점: 줄바꿈·읽기 순서가 흔들릴 수 있음.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303520" cy="228600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73152" cy="2286000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76856"/>
            <a:ext cx="49834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VLM 방식 (비전언어모델, 예: Qwen2.5-VL)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이미지를 통째로 '보고 이해해' 글자를 읽는 AI.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문장·읽기 순서가 자연스럽고 정확도가 높음.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약점: 느림 — 페이지당 ~10초. 가끔 글자를 지어내기도.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헤더/로고 같은 영역을 놓치기도 함.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00600"/>
            <a:ext cx="10927080" cy="1234440"/>
          </a:xfrm>
          <a:prstGeom prst="rect">
            <a:avLst/>
          </a:prstGeom>
          <a:solidFill>
            <a:srgbClr val="E0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5688"/>
                </a:solidFill>
                <a:latin typeface="맑은 고딕"/>
                <a:ea typeface="맑은 고딕"/>
                <a:cs typeface="맑은 고딕"/>
              </a:rPr>
              <a:t>핵심 차이 — 속도 ↔ 정확도의 맞교환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빠른 응답이 중요하면 딥러닝 방식, 정확도가 중요하면 VLM 방식. Paddle은 바이두의 오픈소스 OCR로 검출·인식·표·레이아웃을 한 번에 처리한다.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DONGWOO FINE-CHEM ·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인식의 3단계: 검출 · 인식 · 레이아웃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02920" cy="64008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OCR은 한 번에 읽는 게 아니라 단계로 나눠 처리한다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65760"/>
            <a:ext cx="732138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2103120"/>
            <a:ext cx="18288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1463040"/>
          </a:xfrm>
          <a:prstGeom prst="rect">
            <a:avLst/>
          </a:prstGeom>
          <a:solidFill>
            <a:srgbClr val="007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508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① 검출 (Detection)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글자가 "어디" 있는지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위치(상자)를 찾는다.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2103120"/>
            <a:ext cx="18288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39" y="2103120"/>
            <a:ext cx="73152" cy="1463040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19" y="2231136"/>
            <a:ext cx="1508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② 인식 (Recognition)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그 상자 안이 "무슨"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글자인지 읽는다.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03120"/>
            <a:ext cx="18288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103120"/>
            <a:ext cx="73152" cy="1463040"/>
          </a:xfrm>
          <a:prstGeom prst="rect">
            <a:avLst/>
          </a:prstGeom>
          <a:solidFill>
            <a:srgbClr val="005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231136"/>
            <a:ext cx="1508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③ 레이아웃 (Layout)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페이지를 본문·표·제목·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머리글·그림·도장 구역으로 나눈다.</a:t>
            </a:r>
          </a:p>
        </p:txBody>
      </p:sp>
      <p:pic>
        <p:nvPicPr>
          <p:cNvPr id="16" name="Picture 15" descr="region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74519"/>
            <a:ext cx="3038300" cy="4297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384048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→ 레이아웃 덕분에 "여기는 표, 여기는 제목"을 구분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오른쪽은 실제 인식 화면 — 색 상자가 구역 종류를 표시한다.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파랑=본문, 빨강=제목, 회색=머리글, 진한 파랑=표.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표·그림·도장을 따로 떼어내 처리할 수 있어, 단순히 글자만 읽는 것보다 문서 구조를 살린 결과를 얻는다.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DONGWOO FINE-CHEM ·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사용한 엔진 6종 한눈에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02920" cy="64008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65760"/>
            <a:ext cx="732138" cy="4114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927080" cy="206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377440"/>
                <a:gridCol w="5486400"/>
                <a:gridCol w="1325880"/>
              </a:tblGrid>
              <a:tr h="2952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010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hybrid_vl ★</a:t>
                      </a:r>
                    </a:p>
                  </a:txBody>
                  <a:tcPr marT="12700" marB="12700" anchor="ctr"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010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 + VLM 병합</a:t>
                      </a:r>
                    </a:p>
                  </a:txBody>
                  <a:tcPr marT="12700" marB="12700" anchor="ctr"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010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폼·표=Paddle / 줄글=VLM. 장점만 결합 — 종합 1위</a:t>
                      </a:r>
                    </a:p>
                  </a:txBody>
                  <a:tcPr marT="12700" marB="12700" anchor="ctr"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010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딥러닝+VLM</a:t>
                      </a:r>
                    </a:p>
                  </a:txBody>
                  <a:tcPr marT="12700" marB="12700" anchor="ctr">
                    <a:solidFill>
                      <a:srgbClr val="FCE5E5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PP-StructureV3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딥러닝. 빠르고 표 구조에 강함. 완전 오프라인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딥러닝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paddle_vl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PaddleOCR-VL 0.9B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단독 VLM(서버 불필요). 읽기순서 강점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ollama_vl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Qwen2.5-VL (로컬)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로컬 Ollama VLM. 줄글 가독성 좋음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easyocr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CRAFT + CRNN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가벼운 전통 OCR. 문서 정확도는 낮음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딥러닝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522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tesseract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Tesseract 5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기본 비교군. 한국어 정확도 낮음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딥러닝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★ hybrid_vl = 자사 기본 엔진. 'Paddle의 정확한 글자' + 'VLM의 자연스러운 문장 배치'를 문자 단위로 합쳐 정확도·가독성을 동시에 잡았다.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DONGWOO FINE-CHEM ·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샘플 문서 3종 &amp; 모델별 정확도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02920" cy="64008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doc_00=케이아이에스 · doc_04=유테크솔루션 · doc_05=리스너 (모두 계약서 보관 신청서)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65760"/>
            <a:ext cx="732138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2057400"/>
            <a:ext cx="5394960" cy="868680"/>
          </a:xfrm>
          <a:prstGeom prst="rect">
            <a:avLst/>
          </a:prstGeom>
          <a:solidFill>
            <a:srgbClr val="E0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39696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5688"/>
                </a:solidFill>
                <a:latin typeface="맑은 고딕"/>
                <a:ea typeface="맑은 고딕"/>
                <a:cs typeface="맑은 고딕"/>
              </a:rPr>
              <a:t>CER = 글자 오류율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100글자 중 몇 자가 틀렸나(공백 무시). 낮을수록 좋음.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057400"/>
            <a:ext cx="5394960" cy="868680"/>
          </a:xfrm>
          <a:prstGeom prst="rect">
            <a:avLst/>
          </a:prstGeom>
          <a:solidFill>
            <a:srgbClr val="FC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39696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62424"/>
                </a:solidFill>
                <a:latin typeface="맑은 고딕"/>
                <a:ea typeface="맑은 고딕"/>
                <a:cs typeface="맑은 고딕"/>
              </a:rPr>
              <a:t>WER = 단어(띄어쓰기) 오류율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문장 가독성 지표. 한국어는 보조 지표로 본다.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154680"/>
          <a:ext cx="7498080" cy="206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37360"/>
                <a:gridCol w="1737360"/>
                <a:gridCol w="1737360"/>
              </a:tblGrid>
              <a:tr h="2952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doc_00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doc_04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doc_05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010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hybrid_vl ★</a:t>
                      </a:r>
                    </a:p>
                  </a:txBody>
                  <a:tcPr marT="12700" marB="12700" anchor="ctr"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010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1.6%</a:t>
                      </a:r>
                    </a:p>
                  </a:txBody>
                  <a:tcPr marT="12700" marB="12700" anchor="ctr"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010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0.8%</a:t>
                      </a:r>
                    </a:p>
                  </a:txBody>
                  <a:tcPr marT="12700" marB="12700" anchor="ctr">
                    <a:solidFill>
                      <a:srgbClr val="FC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0101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1.3%</a:t>
                      </a:r>
                    </a:p>
                  </a:txBody>
                  <a:tcPr marT="12700" marB="12700" anchor="ctr">
                    <a:solidFill>
                      <a:srgbClr val="FCE5E5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paddle_vl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7.5%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ollama_vl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2.9%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easyocr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8.9%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522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tesseract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33.1%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28.7%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16.4%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321040" y="3200400"/>
            <a:ext cx="3200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읽는 법 (CER, 낮을수록 좋음)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· hybrid_vl이 3개 문서 모두 최저 → 종합 1위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· 깨끗한 문서(doc_04)는 1% 미만으로 매우 정확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· tesseract는 한국어 문서에 부적합(참고용)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· 측정: RTX 5090 GPU, 문서 전체 페이지 기준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DONGWOO FINE-CHEM ·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주요 오인식 케이스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02920" cy="64008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왜 틀리는지 알면 어디에 쓸 수 있는지 보인다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65760"/>
            <a:ext cx="732138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5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원화기호 ₩ → 라틴 'W'  </a:t>
            </a:r>
            <a:r>
              <a:rPr sz="15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도장처럼 ₩의 가로줄을 못 읽어 'W100,000'으로 오인식. → '숫자 앞 W'를 자동으로 ₩로 교정(규칙 후처리).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5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상단 헤더·로고 누락  </a:t>
            </a:r>
            <a:r>
              <a:rPr sz="15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VLM이 페이지 맨 위 회사 로고·번호를 통째로 놓치는 경우. → hybrid는 Paddle이 헤더를 잡아 보완.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5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표·폼 읽기순서 뒤섞임  </a:t>
            </a:r>
            <a:r>
              <a:rPr sz="15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빈 칸 많은 폼에서 셀 순서가 엉켜 글자가 맞아도 순서가 틀림. → 페이지를 통째로 읽는 VLM이 복원.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5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도장이 글자를 가림  </a:t>
            </a:r>
            <a:r>
              <a:rPr sz="15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빨간 도장이 글자 위에 찍혀 그 아래 글자가 깨짐. → 빨강 억제 전처리로 복구(다음 장).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DONGWOO FINE-CHEM ·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GPU vs CPU — 같은 문서, 다른 속도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02920" cy="64008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doc_00(5페이지) 처리 시간. 정확도는 동일, 속도만 차이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65760"/>
            <a:ext cx="732138" cy="4114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94560"/>
          <a:ext cx="6949440" cy="206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463040"/>
              </a:tblGrid>
              <a:tr h="2952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(초/page)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(초/page)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둔화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2.7s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측정중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easyocr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2.5s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측정중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tesseract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1.6s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측정중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ollama_vl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6.6s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측정중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paddle_vl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15.5s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측정중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5223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hybrid_vl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9.3s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측정중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0" y="2194560"/>
            <a:ext cx="3794760" cy="3383280"/>
          </a:xfrm>
          <a:prstGeom prst="rect">
            <a:avLst/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377440"/>
            <a:ext cx="3474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환경이 속도를 좌우한다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· 딥러닝 엔진(paddle)은 CPU에서도 실용 가능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B62424"/>
                </a:solidFill>
                <a:latin typeface="맑은 고딕"/>
                <a:ea typeface="맑은 고딕"/>
                <a:cs typeface="맑은 고딕"/>
              </a:rPr>
              <a:t>· VLM은 CPU에서 페이지당 수십~수백 초 → 사실상 비실용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· 빠른 현장 응답이 필요하면 GPU가 사실상 필수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· 결론: 서비스 요구(속도)에 맞춰 엔진·하드웨어를 함께 정해야 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DONGWOO FINE-CHEM ·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도장 억제 — 양날의 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02920" cy="64008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빨간 도장을 지우면 좋아지기도, 나빠지기도 한다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65760"/>
            <a:ext cx="732138" cy="411480"/>
          </a:xfrm>
          <a:prstGeom prst="rect">
            <a:avLst/>
          </a:prstGeom>
        </p:spPr>
      </p:pic>
      <p:pic>
        <p:nvPicPr>
          <p:cNvPr id="7" name="Picture 6" descr="doc04_stamp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1745406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709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억제 전(도장이 글자 가림)</a:t>
            </a:r>
          </a:p>
        </p:txBody>
      </p:sp>
      <p:pic>
        <p:nvPicPr>
          <p:cNvPr id="9" name="Picture 8" descr="doc04_stamp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2194560"/>
            <a:ext cx="1745406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4600" y="4709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억제 후(빨강 제거→글자 복구)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5688"/>
                </a:solidFill>
                <a:latin typeface="맑은 고딕"/>
                <a:ea typeface="맑은 고딕"/>
                <a:cs typeface="맑은 고딕"/>
              </a:rPr>
              <a:t>doc_04 (도장이 글자 가림) — 억제하면 개선 ↓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0" y="2423160"/>
          <a:ext cx="6858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억제 전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억제 후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변화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hybrid_vl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-0.3%p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-0.6%p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paddle_vl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-0.1%p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0" y="3977639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62424"/>
                </a:solidFill>
                <a:latin typeface="맑은 고딕"/>
                <a:ea typeface="맑은 고딕"/>
                <a:cs typeface="맑은 고딕"/>
              </a:rPr>
              <a:t>doc_00 (도장이 방해 안 함) — 억제하면 오히려 저하 ↑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0" y="4343400"/>
          <a:ext cx="6858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억제 전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억제 후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변화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hybrid_vl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+0.2%p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2.1%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-0.1%p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paddle_vl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7.5%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7.7%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+0.2%p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40080" y="5715000"/>
            <a:ext cx="10927080" cy="548640"/>
          </a:xfrm>
          <a:prstGeom prst="rect">
            <a:avLst/>
          </a:prstGeom>
          <a:solidFill>
            <a:srgbClr val="FC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78815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62424"/>
                </a:solidFill>
                <a:latin typeface="맑은 고딕"/>
                <a:ea typeface="맑은 고딕"/>
                <a:cs typeface="맑은 고딕"/>
              </a:rPr>
              <a:t>→ 전역 적용은 금물. 도장이 글자를 가리는 문서에만 선택적으로 적용해야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DONGWOO FINE-CHEM ·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이 기술로 할 수 있는 것 — 활용 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02920" cy="64008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인식된 문서 데이터를 어디에 쓰나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65760"/>
            <a:ext cx="732138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031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5688"/>
                </a:solidFill>
                <a:latin typeface="맑은 고딕"/>
                <a:ea typeface="맑은 고딕"/>
                <a:cs typeface="맑은 고딕"/>
              </a:rPr>
              <a:t>공통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문서 검색·질의(RAG)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인식 텍스트를 Vector DB에 넣어, 수천 건 계약서를 '검색'하고 LLM에게 "이 조항 있는 계약 찾아줘"라고 질문.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현장 즉시 인식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작업자가 현장에서 문서를 촬영하면 즉시 텍스트화 → 그 데이터를 바로 업무에 활용.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문서 이상 탐지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필수 항목 누락·금액 불일치·서명 누락 등을 자동 점검.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LLM 연동 자동화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추출 정보로 요약·분류·번역·보고서 자동 생성.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031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62424"/>
                </a:solidFill>
                <a:latin typeface="맑은 고딕"/>
                <a:ea typeface="맑은 고딕"/>
                <a:cs typeface="맑은 고딕"/>
              </a:rPr>
              <a:t>화학 제조업 특화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5146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MSDS·CAS 추출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물질안전보건자료에서 화학물질명·CAS 번호·위험문구 자동 수집.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시험성적서(COA) 자동화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원료·제품 시험성적서 수치를 인식해 품질 시스템에 자동 입력.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규제·인증 문서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인허가·환경·안전 규제 문서를 텍스트화해 관리·검색.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작업표준서·설비 문서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현장 SOP·도면 주기재를 디지털화해 검색·교육에 활용.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DONGWOO FINE-CHEM · 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한계점 &amp; 도입을 위한 하드웨어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502920" cy="64008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365760"/>
            <a:ext cx="732138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0574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VLM은 느리다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정확하지만 GPU로도 페이지당 ~10초. 속도↔정확도를 골라야 함.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1글자 오류도 치명적인 분야엔 아직 부족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완전 무인 처리보다 '사람 확인 보조'로 시작 권장.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추가 학습 필요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서비스를 확정한 뒤, 해당 문서 샘플로 추가 학습해 인식률을 끌어올려야 함.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E03030"/>
                </a:solidFill>
                <a:latin typeface="맑은 고딕"/>
                <a:ea typeface="맑은 고딕"/>
                <a:cs typeface="맑은 고딕"/>
              </a:rPr>
              <a:t>● </a:t>
            </a:r>
            <a:r>
              <a:rPr sz="13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환경 편차 </a:t>
            </a:r>
            <a:r>
              <a:rPr sz="13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CPU/GPU에 따라 속도가 수십 배 차이. 도입 전 환경 산정 필수.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7451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01018"/>
                </a:solidFill>
                <a:latin typeface="맑은 고딕"/>
                <a:ea typeface="맑은 고딕"/>
                <a:cs typeface="맑은 고딕"/>
              </a:rPr>
              <a:t>이용 규모별 권장 사양 &amp; 대략 견적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2286000"/>
          <a:ext cx="50749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91640"/>
                <a:gridCol w="1234440"/>
                <a:gridCol w="502920"/>
              </a:tblGrid>
              <a:tr h="296265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RAM / CPU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견적(원)</a:t>
                      </a:r>
                    </a:p>
                  </a:txBody>
                  <a:tcPr marT="25400" marB="25400" anchor="ctr">
                    <a:solidFill>
                      <a:srgbClr val="101018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소규모/현장 1~수명
(딥러닝 위주)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RTX 4060 Ti 16GB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32GB / 8코어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150~250만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중규모/팀
(VLM 가끔)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RTX 4090 24GB
또는 5090 32GB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64GB / 12코어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400~700만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대규모/상시 서버
(VLM 상시)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RTX 6000 Ada 48GB
/ L40S (다중 GPU)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128GB+ / 16코어+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1,500만~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96268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전용
(딥러닝, 저처리량)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없음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32GB / 16코어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3F3F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~100만</a:t>
                      </a:r>
                    </a:p>
                  </a:txBody>
                  <a:tcPr marT="12700" marB="1270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5394960"/>
            <a:ext cx="5074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F3F46"/>
                </a:solidFill>
                <a:latin typeface="맑은 고딕"/>
                <a:ea typeface="맑은 고딕"/>
                <a:cs typeface="맑은 고딕"/>
              </a:rPr>
              <a:t>· 현재 RTX 5090 기준: 딥러닝 0.3초/page, VLM ~10초/page.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71717A"/>
                </a:solidFill>
                <a:latin typeface="맑은 고딕"/>
                <a:ea typeface="맑은 고딕"/>
                <a:cs typeface="맑은 고딕"/>
              </a:rPr>
              <a:t>· VLM 상시 서비스는 GPU VRAM 24GB+ 권장. 견적은 시점·환율 따라 변동(대략치).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